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93790" y="1732002"/>
            <a:ext cx="9505593" cy="978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nədir? (Əsas anlayış)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3050381"/>
            <a:ext cx="112000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(Application Programming Interface)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4099322"/>
            <a:ext cx="13042821" cy="907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Tərif: API (Application Programming Interface) — iki fərqli proqramın bir-biri ilə necə qarşılıqlı əlaqədə olacağını müəyyən edən qaydalar və protokollar toplusudur.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33951" y="5516642"/>
            <a:ext cx="1270265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Sadə izah: API proqramların arasında körpü kimidir. Məsələn, mobil tətbiq hava məlumatını göstərmək istəyir → o, serverdəki “Weather API”-yə sorğu göndərir → API cavab olaraq temperatur, rütubət və s. məlumatları qaytarır.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261491"/>
            <a:ext cx="30480" cy="1236107"/>
          </a:xfrm>
          <a:prstGeom prst="rect">
            <a:avLst/>
          </a:prstGeom>
          <a:solidFill>
            <a:srgbClr val="2B0AF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8813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API-lərin növləri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337078"/>
            <a:ext cx="6407944" cy="2229803"/>
          </a:xfrm>
          <a:prstGeom prst="roundRect">
            <a:avLst>
              <a:gd name="adj" fmla="val 6561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337078"/>
            <a:ext cx="121920" cy="2229803"/>
          </a:xfrm>
          <a:prstGeom prst="roundRect">
            <a:avLst>
              <a:gd name="adj" fmla="val 78139"/>
            </a:avLst>
          </a:prstGeom>
          <a:solidFill>
            <a:srgbClr val="2B0AFF"/>
          </a:solidFill>
        </p:spPr>
      </p:sp>
      <p:sp>
        <p:nvSpPr>
          <p:cNvPr id="6" name="Text 4"/>
          <p:cNvSpPr/>
          <p:nvPr/>
        </p:nvSpPr>
        <p:spPr>
          <a:xfrm>
            <a:off x="1142524" y="259437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(Public) API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084790"/>
            <a:ext cx="58019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Hər kəs üçün açıqdır.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3583781"/>
            <a:ext cx="58019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Məsələn: OpenWeatherMap API, Google Maps API.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337078"/>
            <a:ext cx="6408063" cy="2229803"/>
          </a:xfrm>
          <a:prstGeom prst="roundRect">
            <a:avLst>
              <a:gd name="adj" fmla="val 6561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2337078"/>
            <a:ext cx="121920" cy="2229803"/>
          </a:xfrm>
          <a:prstGeom prst="roundRect">
            <a:avLst>
              <a:gd name="adj" fmla="val 78139"/>
            </a:avLst>
          </a:prstGeom>
          <a:solidFill>
            <a:srgbClr val="2B0AFF"/>
          </a:solidFill>
        </p:spPr>
      </p:sp>
      <p:sp>
        <p:nvSpPr>
          <p:cNvPr id="11" name="Text 9"/>
          <p:cNvSpPr/>
          <p:nvPr/>
        </p:nvSpPr>
        <p:spPr>
          <a:xfrm>
            <a:off x="7777282" y="2594372"/>
            <a:ext cx="286369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(Private) API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084790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Şirkət daxilində sistemlərin bir-biri ilə əlaqəsi üçün istifadə olunur.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7282" y="3946684"/>
            <a:ext cx="58020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Məs: Amazon-un daxili mikroservisləri.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4793694"/>
            <a:ext cx="6407944" cy="2592705"/>
          </a:xfrm>
          <a:prstGeom prst="roundRect">
            <a:avLst>
              <a:gd name="adj" fmla="val 5643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310" y="4793694"/>
            <a:ext cx="121920" cy="2592705"/>
          </a:xfrm>
          <a:prstGeom prst="roundRect">
            <a:avLst>
              <a:gd name="adj" fmla="val 78139"/>
            </a:avLst>
          </a:prstGeom>
          <a:solidFill>
            <a:srgbClr val="2B0AFF"/>
          </a:solidFill>
        </p:spPr>
      </p:sp>
      <p:sp>
        <p:nvSpPr>
          <p:cNvPr id="16" name="Text 14"/>
          <p:cNvSpPr/>
          <p:nvPr/>
        </p:nvSpPr>
        <p:spPr>
          <a:xfrm>
            <a:off x="1142524" y="50509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 API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2524" y="5541407"/>
            <a:ext cx="58019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Yalnız müəyyən tərəfdaş şirkətlərə açıq olur.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42524" y="6040398"/>
            <a:ext cx="58019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Məsələn: bir bankın yalnız tərəfdaş fintech-lərə açdığı API-lər.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4793694"/>
            <a:ext cx="6408063" cy="2592705"/>
          </a:xfrm>
          <a:prstGeom prst="roundRect">
            <a:avLst>
              <a:gd name="adj" fmla="val 5643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8067" y="4793694"/>
            <a:ext cx="121920" cy="2592705"/>
          </a:xfrm>
          <a:prstGeom prst="roundRect">
            <a:avLst>
              <a:gd name="adj" fmla="val 78139"/>
            </a:avLst>
          </a:prstGeom>
          <a:solidFill>
            <a:srgbClr val="2B0AFF"/>
          </a:solidFill>
        </p:spPr>
      </p:sp>
      <p:sp>
        <p:nvSpPr>
          <p:cNvPr id="21" name="Text 19"/>
          <p:cNvSpPr/>
          <p:nvPr/>
        </p:nvSpPr>
        <p:spPr>
          <a:xfrm>
            <a:off x="7777282" y="50509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Composite API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7282" y="5541407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Birdən çox servisdən məlumatı eyni vaxtda gətirən mürəkkəb API-lər.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777282" y="6403300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Məs: e-ticarət saytında həm məhsul, həm qiymət, həm də stok məlumatı bir yerdə gəlir.</a:t>
            </a:r>
            <a:endParaRPr lang="en-US" sz="1750" dirty="0"/>
          </a:p>
        </p:txBody>
      </p:sp>
      <p:sp>
        <p:nvSpPr>
          <p:cNvPr id="24" name="Text Box 23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912" y="344091"/>
            <a:ext cx="1564005" cy="195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7912" y="589598"/>
            <a:ext cx="3128129" cy="3908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necə işləyir?</a:t>
            </a:r>
            <a:endParaRPr lang="en-US" sz="2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886" y="1168122"/>
            <a:ext cx="8078510" cy="479464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375" y="2340014"/>
            <a:ext cx="687720" cy="6877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98659" y="4657202"/>
            <a:ext cx="2008143" cy="773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 Response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673" y="2341303"/>
            <a:ext cx="687720" cy="6877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67847" y="4657202"/>
            <a:ext cx="2008144" cy="773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Forwards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861" y="2341303"/>
            <a:ext cx="687721" cy="6877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95772" y="4657202"/>
            <a:ext cx="2008144" cy="773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 Request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437912" y="6150412"/>
            <a:ext cx="1876782" cy="2345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Əsas iş prinsipi: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437912" y="6572607"/>
            <a:ext cx="13754576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(məs: vebsayt və ya mobil tətbiq) sorğu göndərir.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437912" y="6816447"/>
            <a:ext cx="13754576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həmin sorğunu serverə ötürür.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37912" y="7060287"/>
            <a:ext cx="13754576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cavab hazırlayıb API vasitəsilə klientə göndərir.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37912" y="7448074"/>
            <a:ext cx="1876782" cy="2345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Məlumat formatları: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37912" y="7870269"/>
            <a:ext cx="13754576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(JavaScript Object Notation)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37912" y="8114109"/>
            <a:ext cx="13754576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XML (Extensible Markup Language)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37912" y="8454985"/>
            <a:ext cx="13754576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Misal: Klient </a:t>
            </a:r>
            <a:r>
              <a:rPr lang="en-US" sz="950" u="sng" dirty="0">
                <a:solidFill>
                  <a:srgbClr val="7B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https://api.weather.com/data?city=Baku</a:t>
            </a: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ünvanına GET sorğusu göndərir → API cavab olaraq JSON formatında məlumat qaytarır: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37912" y="8795861"/>
            <a:ext cx="13754576" cy="387787"/>
          </a:xfrm>
          <a:prstGeom prst="roundRect">
            <a:avLst>
              <a:gd name="adj" fmla="val 13552"/>
            </a:avLst>
          </a:prstGeom>
          <a:solidFill>
            <a:srgbClr val="343232"/>
          </a:solidFill>
        </p:spPr>
      </p:sp>
      <p:sp>
        <p:nvSpPr>
          <p:cNvPr id="20" name="Shape 14"/>
          <p:cNvSpPr/>
          <p:nvPr/>
        </p:nvSpPr>
        <p:spPr>
          <a:xfrm>
            <a:off x="431721" y="8795861"/>
            <a:ext cx="13766959" cy="387787"/>
          </a:xfrm>
          <a:prstGeom prst="roundRect">
            <a:avLst>
              <a:gd name="adj" fmla="val 4840"/>
            </a:avLst>
          </a:prstGeom>
          <a:solidFill>
            <a:srgbClr val="343232"/>
          </a:solidFill>
        </p:spPr>
      </p:sp>
      <p:sp>
        <p:nvSpPr>
          <p:cNvPr id="21" name="Text 15"/>
          <p:cNvSpPr/>
          <p:nvPr/>
        </p:nvSpPr>
        <p:spPr>
          <a:xfrm>
            <a:off x="556736" y="8889682"/>
            <a:ext cx="13516928" cy="2001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3432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"city": "Baku", "temperature": 21, "condition": "Sunny" }</a:t>
            </a:r>
            <a:endParaRPr lang="en-US" sz="950" dirty="0"/>
          </a:p>
        </p:txBody>
      </p:sp>
      <p:sp>
        <p:nvSpPr>
          <p:cNvPr id="24" name="Text Box 23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231" y="582097"/>
            <a:ext cx="2508171" cy="313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02231" y="975836"/>
            <a:ext cx="5016460" cy="626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02231" y="1903690"/>
            <a:ext cx="13225939" cy="401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(Representational State Transfer)</a:t>
            </a:r>
            <a:r>
              <a:rPr lang="en-US" sz="1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bu gün ən çox istifadə edilən API arxitekturasıdır.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2231" y="2731294"/>
            <a:ext cx="3009781" cy="376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Xüsusiyyətlər: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702231" y="3308152"/>
            <a:ext cx="6368177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protokolu üzərində işləyir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2231" y="3699272"/>
            <a:ext cx="6368177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“Stateless”dir – yəni hər sorğu müstəqildir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2231" y="4090392"/>
            <a:ext cx="6368177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Sadə və geniş uyğunluqlu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7612" y="2731294"/>
            <a:ext cx="3198733" cy="376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Əsas HTTP metodları:</a:t>
            </a:r>
            <a:endParaRPr lang="en-US" sz="2350" dirty="0"/>
          </a:p>
        </p:txBody>
      </p:sp>
      <p:sp>
        <p:nvSpPr>
          <p:cNvPr id="10" name="Shape 8"/>
          <p:cNvSpPr/>
          <p:nvPr/>
        </p:nvSpPr>
        <p:spPr>
          <a:xfrm>
            <a:off x="7567612" y="3333155"/>
            <a:ext cx="6368177" cy="3542109"/>
          </a:xfrm>
          <a:prstGeom prst="roundRect">
            <a:avLst>
              <a:gd name="adj" fmla="val 237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75233" y="3340775"/>
            <a:ext cx="6352223" cy="57697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776567" y="3468767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897547" y="3468767"/>
            <a:ext cx="170830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Təyinat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014716" y="3468767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Nümunə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75233" y="3917752"/>
            <a:ext cx="6352223" cy="57697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7776567" y="4045744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97547" y="4045744"/>
            <a:ext cx="170830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Məlumat almaq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014716" y="4045744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/users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75233" y="4494728"/>
            <a:ext cx="6352223" cy="89796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776567" y="4622721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97547" y="4622721"/>
            <a:ext cx="1708309" cy="641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Yeni məlumat əlavə etmək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014716" y="4622721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/users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75233" y="5392698"/>
            <a:ext cx="6352223" cy="89796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776567" y="5520690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897547" y="5520690"/>
            <a:ext cx="1708309" cy="641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Məlumat yeniləmək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2014716" y="5520690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/users/1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575233" y="6290667"/>
            <a:ext cx="6352223" cy="57697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7776567" y="6418659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897547" y="6418659"/>
            <a:ext cx="170830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Məlumat silmək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2014716" y="6418659"/>
            <a:ext cx="171211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/users/1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02231" y="7326511"/>
            <a:ext cx="13225939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Nümunə: GET </a:t>
            </a:r>
            <a:r>
              <a:rPr lang="en-US" sz="1550" u="sng" dirty="0">
                <a:solidFill>
                  <a:srgbClr val="7B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https://api.example.com/users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cavab: [{"id":1, "name":"Husein"}]</a:t>
            </a:r>
            <a:endParaRPr lang="en-US" sz="1550" dirty="0"/>
          </a:p>
        </p:txBody>
      </p:sp>
      <p:sp>
        <p:nvSpPr>
          <p:cNvPr id="32" name="Text Box 31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91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364224"/>
            <a:ext cx="663106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və XML formatları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63997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formatı: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29208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Daha yüngül və insan tərəfindən oxunması asandır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428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Ən çox REST API-lərdə istifadə olunur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352336"/>
            <a:ext cx="6244709" cy="702945"/>
          </a:xfrm>
          <a:prstGeom prst="roundRect">
            <a:avLst>
              <a:gd name="adj" fmla="val 13553"/>
            </a:avLst>
          </a:prstGeom>
          <a:solidFill>
            <a:srgbClr val="343232"/>
          </a:solidFill>
        </p:spPr>
      </p:sp>
      <p:sp>
        <p:nvSpPr>
          <p:cNvPr id="8" name="Shape 6"/>
          <p:cNvSpPr/>
          <p:nvPr/>
        </p:nvSpPr>
        <p:spPr>
          <a:xfrm>
            <a:off x="782479" y="5352336"/>
            <a:ext cx="6267331" cy="702945"/>
          </a:xfrm>
          <a:prstGeom prst="roundRect">
            <a:avLst>
              <a:gd name="adj" fmla="val 4840"/>
            </a:avLst>
          </a:prstGeom>
          <a:solidFill>
            <a:srgbClr val="343232"/>
          </a:solidFill>
        </p:spPr>
      </p:sp>
      <p:sp>
        <p:nvSpPr>
          <p:cNvPr id="9" name="Text 7"/>
          <p:cNvSpPr/>
          <p:nvPr/>
        </p:nvSpPr>
        <p:spPr>
          <a:xfrm>
            <a:off x="1009293" y="5522357"/>
            <a:ext cx="581370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3432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"id": 12, "title": "AI Engineer", "language": "Python" }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63997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XML formatı: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429208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Daha çox köhnə sistemlərdə istifadə olunur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910138"/>
            <a:ext cx="6244709" cy="1065848"/>
          </a:xfrm>
          <a:prstGeom prst="roundRect">
            <a:avLst>
              <a:gd name="adj" fmla="val 8938"/>
            </a:avLst>
          </a:prstGeom>
          <a:solidFill>
            <a:srgbClr val="343232"/>
          </a:solidFill>
        </p:spPr>
      </p:sp>
      <p:sp>
        <p:nvSpPr>
          <p:cNvPr id="13" name="Shape 11"/>
          <p:cNvSpPr/>
          <p:nvPr/>
        </p:nvSpPr>
        <p:spPr>
          <a:xfrm>
            <a:off x="7588210" y="4910138"/>
            <a:ext cx="6267331" cy="1065848"/>
          </a:xfrm>
          <a:prstGeom prst="roundRect">
            <a:avLst>
              <a:gd name="adj" fmla="val 3192"/>
            </a:avLst>
          </a:prstGeom>
          <a:solidFill>
            <a:srgbClr val="343232"/>
          </a:solidFill>
        </p:spPr>
      </p:sp>
      <p:sp>
        <p:nvSpPr>
          <p:cNvPr id="14" name="Text 12"/>
          <p:cNvSpPr/>
          <p:nvPr/>
        </p:nvSpPr>
        <p:spPr>
          <a:xfrm>
            <a:off x="7815024" y="5080159"/>
            <a:ext cx="581370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3432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&lt;user&gt;&lt;id&gt;12&lt;/id&gt;&lt;title&gt;AI Engineer&lt;/title&gt;&lt;language&gt;Python&lt;/language&gt;&lt;/user&gt;</a:t>
            </a:r>
            <a:endParaRPr lang="en-US" sz="1750" dirty="0"/>
          </a:p>
        </p:txBody>
      </p:sp>
      <p:sp>
        <p:nvSpPr>
          <p:cNvPr id="24" name="Text Box 23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77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672828"/>
            <a:ext cx="827686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həyatdan API nümunələri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721769"/>
            <a:ext cx="13042821" cy="4280059"/>
          </a:xfrm>
          <a:prstGeom prst="roundRect">
            <a:avLst>
              <a:gd name="adj" fmla="val 222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72938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028343" y="2873097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2873097"/>
            <a:ext cx="474976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İstifadə sahəsi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606" y="2873097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Nümunə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7970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028343" y="3523417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 API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3523417"/>
            <a:ext cx="474976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Xəritə yerləşdirmək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606" y="3523417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Taksilərdə və ya sayt xəritələrində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03002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028343" y="4173736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API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4173736"/>
            <a:ext cx="474976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Hava proqnozu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848606" y="4173736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Hava tətbiqləri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68034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28343" y="4824055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API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4824055"/>
            <a:ext cx="474976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Sosial media inteqrasiyası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848606" y="4824055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Analitik sistemlər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330666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28343" y="5474375"/>
            <a:ext cx="214800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API (Stripe, PayPal)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637598" y="5474375"/>
            <a:ext cx="474976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Onlayn ödəniş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848606" y="5474375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saytlarında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34388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028343" y="6487597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API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637598" y="6487597"/>
            <a:ext cx="474976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Süni intellekt modelləri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848606" y="6487597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Chatbotlar, analiz sistemləri</a:t>
            </a:r>
            <a:endParaRPr lang="en-US" sz="1750" dirty="0"/>
          </a:p>
        </p:txBody>
      </p:sp>
      <p:sp>
        <p:nvSpPr>
          <p:cNvPr id="29" name="Text Box 28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451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09136" y="954881"/>
            <a:ext cx="5251728" cy="6331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API-lərin üstünlükləri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709136" y="1891903"/>
            <a:ext cx="455890" cy="455890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5098" y="1929884"/>
            <a:ext cx="303848" cy="379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1367552" y="1961555"/>
            <a:ext cx="3345775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Yenidən istifadə oluna bilir: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67552" y="2399586"/>
            <a:ext cx="12553712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dəfə yazılan API müxtəlif proqramlarda istifadə edilə bilər.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09136" y="3128963"/>
            <a:ext cx="455890" cy="455890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5098" y="3166943"/>
            <a:ext cx="303848" cy="379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367552" y="3198614"/>
            <a:ext cx="4151948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Məlumat paylaşımını asanlaşdırır: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67552" y="3636645"/>
            <a:ext cx="12553712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Fərqli sistemlər bir-biri ilə rahat ünsiyyət qura bilir.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09136" y="4366022"/>
            <a:ext cx="455890" cy="455890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5098" y="4404003"/>
            <a:ext cx="303848" cy="379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2"/>
          <p:cNvSpPr/>
          <p:nvPr/>
        </p:nvSpPr>
        <p:spPr>
          <a:xfrm>
            <a:off x="1367552" y="4435673"/>
            <a:ext cx="2570083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İnkişafı sürətləndirir: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67552" y="4873704"/>
            <a:ext cx="12553712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Hazır servislərdən istifadə etdiyinə görə sıfırdan yazmağa ehtiyac qalmır.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09136" y="5603081"/>
            <a:ext cx="455890" cy="455890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5098" y="5641062"/>
            <a:ext cx="303848" cy="379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1367552" y="5672733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Təhlükəsizlik: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67552" y="6110764"/>
            <a:ext cx="12553712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Tokenlər, API key-lər və autentifikasiya ilə təhlükəsizlik təmin olunur.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09136" y="6840141"/>
            <a:ext cx="455890" cy="455890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5098" y="6878122"/>
            <a:ext cx="303848" cy="379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350" dirty="0"/>
          </a:p>
        </p:txBody>
      </p:sp>
      <p:sp>
        <p:nvSpPr>
          <p:cNvPr id="22" name="Text 20"/>
          <p:cNvSpPr/>
          <p:nvPr/>
        </p:nvSpPr>
        <p:spPr>
          <a:xfrm>
            <a:off x="1367552" y="6909792"/>
            <a:ext cx="3378994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Miqyaslana bilən sistemlər: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67552" y="7347823"/>
            <a:ext cx="12553712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Mikroservis arxitekturası ilə böyük sistemlər API-lər üzərində qurulur.</a:t>
            </a:r>
            <a:endParaRPr lang="en-US" sz="1550" dirty="0"/>
          </a:p>
        </p:txBody>
      </p:sp>
      <p:sp>
        <p:nvSpPr>
          <p:cNvPr id="24" name="Text Box 23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208" y="558046"/>
            <a:ext cx="2536746" cy="3170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10208" y="956191"/>
            <a:ext cx="7276028" cy="634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API-lərlə işləmək üçün alətlər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710208" y="1894642"/>
            <a:ext cx="13209984" cy="3515677"/>
          </a:xfrm>
          <a:prstGeom prst="roundRect">
            <a:avLst>
              <a:gd name="adj" fmla="val 242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28" y="1902262"/>
            <a:ext cx="13194744" cy="58340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920829" y="2031563"/>
            <a:ext cx="2229326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Alət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563541" y="2031563"/>
            <a:ext cx="10146149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Təyinat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7828" y="2485668"/>
            <a:ext cx="13194744" cy="58340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20829" y="2614970"/>
            <a:ext cx="2229326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Postman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63541" y="2614970"/>
            <a:ext cx="10146149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API-ləri test etmək, sorğular göndərmək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17828" y="3069074"/>
            <a:ext cx="13194744" cy="58340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920829" y="3198376"/>
            <a:ext cx="2229326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/ OpenAPI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3541" y="3198376"/>
            <a:ext cx="10146149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sənədləşməsi və vizual interfeys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7828" y="3652480"/>
            <a:ext cx="13194744" cy="58340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20829" y="3781782"/>
            <a:ext cx="2229326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563541" y="3781782"/>
            <a:ext cx="10146149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Komanda sətri ilə API testləri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7828" y="4235887"/>
            <a:ext cx="13194744" cy="58340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920829" y="4365188"/>
            <a:ext cx="2229326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requests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563541" y="4365188"/>
            <a:ext cx="10146149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 səviyyəsində API çağırışları üçün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17828" y="4819293"/>
            <a:ext cx="13194744" cy="583406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20829" y="4948595"/>
            <a:ext cx="2229326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Insomnia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563541" y="4948595"/>
            <a:ext cx="10146149" cy="324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 test mühiti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0208" y="5714643"/>
            <a:ext cx="3044190" cy="380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nümunəsi:</a:t>
            </a:r>
            <a:endParaRPr lang="en-US" sz="2350" dirty="0"/>
          </a:p>
        </p:txBody>
      </p:sp>
      <p:sp>
        <p:nvSpPr>
          <p:cNvPr id="24" name="Shape 22"/>
          <p:cNvSpPr/>
          <p:nvPr/>
        </p:nvSpPr>
        <p:spPr>
          <a:xfrm>
            <a:off x="710208" y="6399490"/>
            <a:ext cx="13209984" cy="1278731"/>
          </a:xfrm>
          <a:prstGeom prst="roundRect">
            <a:avLst>
              <a:gd name="adj" fmla="val 6666"/>
            </a:avLst>
          </a:prstGeom>
          <a:solidFill>
            <a:srgbClr val="343232"/>
          </a:solidFill>
        </p:spPr>
      </p:sp>
      <p:sp>
        <p:nvSpPr>
          <p:cNvPr id="25" name="Shape 23"/>
          <p:cNvSpPr/>
          <p:nvPr/>
        </p:nvSpPr>
        <p:spPr>
          <a:xfrm>
            <a:off x="700088" y="6399490"/>
            <a:ext cx="13230225" cy="1278731"/>
          </a:xfrm>
          <a:prstGeom prst="roundRect">
            <a:avLst>
              <a:gd name="adj" fmla="val 2381"/>
            </a:avLst>
          </a:prstGeom>
          <a:solidFill>
            <a:srgbClr val="343232"/>
          </a:solidFill>
        </p:spPr>
      </p:sp>
      <p:sp>
        <p:nvSpPr>
          <p:cNvPr id="26" name="Text 24"/>
          <p:cNvSpPr/>
          <p:nvPr/>
        </p:nvSpPr>
        <p:spPr>
          <a:xfrm>
            <a:off x="902970" y="6551652"/>
            <a:ext cx="12824460" cy="974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3432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requestsresponse = requests.get("https://api.github.com/users/husein")print(response.json())</a:t>
            </a:r>
            <a:endParaRPr lang="en-US" sz="1550" dirty="0"/>
          </a:p>
        </p:txBody>
      </p:sp>
      <p:sp>
        <p:nvSpPr>
          <p:cNvPr id="27" name="Text Box 26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359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52864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Nəticə və gələcək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804404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Nəticə: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456509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API-lər proqramların bir-biri ilə əlaqəsini təmin edən əsas texnologiyadır.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1610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Veb, mobil, süni intellekt, oyun və IoT kimi bütün sahələrdə istifadə olunur.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804404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Gələcəkdə: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445650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API-first yanaşma (ilk növbədə API dizayn edilir)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9870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– REST-ə alternativ, daha çevik texnologiya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40906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API-ləri – ChatGPT, DALL·E kimi sistemlərin əsasını təşkil edir</a:t>
            </a:r>
            <a:endParaRPr lang="en-US" sz="1750" dirty="0"/>
          </a:p>
        </p:txBody>
      </p:sp>
      <p:sp>
        <p:nvSpPr>
          <p:cNvPr id="24" name="Text Box 23"/>
          <p:cNvSpPr txBox="1"/>
          <p:nvPr/>
        </p:nvSpPr>
        <p:spPr>
          <a:xfrm>
            <a:off x="12607925" y="7719695"/>
            <a:ext cx="1998345" cy="509905"/>
          </a:xfrm>
          <a:prstGeom prst="rect">
            <a:avLst/>
          </a:prstGeom>
          <a:solidFill>
            <a:srgbClr val="272525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3770</Words>
  <Application>WPS Presentation</Application>
  <PresentationFormat>On-screen Show (16:9)</PresentationFormat>
  <Paragraphs>238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Husein</cp:lastModifiedBy>
  <cp:revision>2</cp:revision>
  <dcterms:created xsi:type="dcterms:W3CDTF">2025-10-15T16:31:00Z</dcterms:created>
  <dcterms:modified xsi:type="dcterms:W3CDTF">2025-10-15T16:38:06Z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536E3C0B2A49405CBABC1C0090A412D0_12</vt:lpwstr>
  </property>
  <property fmtid="{D5CDD505-2E9C-101B-9397-08002B2CF9AE}" pid="3" name="KSOProductBuildVer">
    <vt:lpwstr>1033-12.2.0.23131</vt:lpwstr>
  </property>
</Properties>
</file>